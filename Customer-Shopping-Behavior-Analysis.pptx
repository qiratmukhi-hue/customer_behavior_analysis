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ibre Baskerville" charset="1" panose="020000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3562645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Shopping Behavior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5693121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Uncovering insights from 3,900 purchases to guide strategic business decisions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137751"/>
            <a:ext cx="18288000" cy="10011508"/>
            <a:chOff x="0" y="0"/>
            <a:chExt cx="24384000" cy="13348678"/>
          </a:xfrm>
        </p:grpSpPr>
        <p:sp>
          <p:nvSpPr>
            <p:cNvPr name="Freeform 9" id="9" descr="Screenshot 2026-08-20 171958.png"/>
            <p:cNvSpPr/>
            <p:nvPr/>
          </p:nvSpPr>
          <p:spPr>
            <a:xfrm flipH="false" flipV="false" rot="0">
              <a:off x="0" y="0"/>
              <a:ext cx="24384000" cy="13348715"/>
            </a:xfrm>
            <a:custGeom>
              <a:avLst/>
              <a:gdLst/>
              <a:ahLst/>
              <a:cxnLst/>
              <a:rect r="r" b="b" t="t" l="l"/>
              <a:pathLst>
                <a:path h="1334871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348715"/>
                  </a:lnTo>
                  <a:lnTo>
                    <a:pt x="0" y="13348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3544043"/>
            <a:chOff x="0" y="0"/>
            <a:chExt cx="24384000" cy="472539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4725416"/>
            </a:xfrm>
            <a:custGeom>
              <a:avLst/>
              <a:gdLst/>
              <a:ahLst/>
              <a:cxnLst/>
              <a:rect r="r" b="b" t="t" l="l"/>
              <a:pathLst>
                <a:path h="47254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" t="0" r="-1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982318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3,900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9275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Purchases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transaction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1902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Columns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4866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 demographics &amp; behavior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97493" y="6597101"/>
            <a:ext cx="5198269" cy="80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24530" y="773445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Values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97493" y="8271272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Only in Review Rating column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78984"/>
            <a:ext cx="907315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Preparation Process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4004367"/>
            <a:ext cx="5245446" cy="38100"/>
            <a:chOff x="0" y="0"/>
            <a:chExt cx="6993928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0005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Loading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Imported dataset using pandas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21206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1206" y="4004367"/>
            <a:ext cx="5245446" cy="38100"/>
            <a:chOff x="0" y="0"/>
            <a:chExt cx="6993928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000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21206" y="420320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Initial Exploration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1206" y="4740031"/>
            <a:ext cx="5245446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Structure check and summary statistics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0163" y="3474834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50163" y="4004367"/>
            <a:ext cx="5245446" cy="38100"/>
            <a:chOff x="0" y="0"/>
            <a:chExt cx="6993928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0005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50163" y="4203202"/>
            <a:ext cx="4137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Missing Data Handling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50163" y="4740031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Imputed Review Rating with median values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0005C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2238" y="6881222"/>
            <a:ext cx="369302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Feature Engineering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7418041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Created age groups and purchase frequency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5684" y="6152855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50005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285684" y="6881222"/>
            <a:ext cx="376609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Database Integration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85684" y="7418041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Connected to PostgreSQL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478909"/>
            <a:ext cx="10303373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by Gender Analysis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137592"/>
            <a:ext cx="9505359" cy="5001368"/>
            <a:chOff x="0" y="0"/>
            <a:chExt cx="12673813" cy="666849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673838" cy="6668516"/>
            </a:xfrm>
            <a:custGeom>
              <a:avLst/>
              <a:gdLst/>
              <a:ahLst/>
              <a:cxnLst/>
              <a:rect r="r" b="b" t="t" l="l"/>
              <a:pathLst>
                <a:path h="6668516" w="12673838">
                  <a:moveTo>
                    <a:pt x="0" y="0"/>
                  </a:moveTo>
                  <a:lnTo>
                    <a:pt x="12673838" y="0"/>
                  </a:lnTo>
                  <a:lnTo>
                    <a:pt x="12673838" y="6668516"/>
                  </a:lnTo>
                  <a:lnTo>
                    <a:pt x="0" y="6668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" t="0" r="-1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73203" y="8177060"/>
            <a:ext cx="283521" cy="283521"/>
            <a:chOff x="0" y="0"/>
            <a:chExt cx="378028" cy="3780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12239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32924" y="8215160"/>
            <a:ext cx="616744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40168" y="8177060"/>
            <a:ext cx="283521" cy="283521"/>
            <a:chOff x="0" y="0"/>
            <a:chExt cx="378028" cy="378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8079" cy="378079"/>
            </a:xfrm>
            <a:custGeom>
              <a:avLst/>
              <a:gdLst/>
              <a:ahLst/>
              <a:cxnLst/>
              <a:rect r="r" b="b" t="t" l="l"/>
              <a:pathLst>
                <a:path h="378079" w="378079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347599" y="0"/>
                  </a:lnTo>
                  <a:cubicBezTo>
                    <a:pt x="364490" y="0"/>
                    <a:pt x="378079" y="13589"/>
                    <a:pt x="378079" y="30480"/>
                  </a:cubicBezTo>
                  <a:lnTo>
                    <a:pt x="378079" y="347599"/>
                  </a:lnTo>
                  <a:cubicBezTo>
                    <a:pt x="378079" y="364490"/>
                    <a:pt x="364490" y="378079"/>
                    <a:pt x="347599" y="378079"/>
                  </a:cubicBezTo>
                  <a:lnTo>
                    <a:pt x="30480" y="378079"/>
                  </a:lnTo>
                  <a:cubicBezTo>
                    <a:pt x="13589" y="378079"/>
                    <a:pt x="0" y="364490"/>
                    <a:pt x="0" y="347599"/>
                  </a:cubicBezTo>
                  <a:close/>
                </a:path>
              </a:pathLst>
            </a:custGeom>
            <a:solidFill>
              <a:srgbClr val="E669B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199880" y="8215160"/>
            <a:ext cx="937470" cy="24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98866" y="308312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Insight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98866" y="3733352"/>
            <a:ext cx="6106268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Female customers generate slightly higher total revenue than male customers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198866" y="5054803"/>
            <a:ext cx="6106268" cy="1658388"/>
            <a:chOff x="0" y="0"/>
            <a:chExt cx="8141691" cy="2211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41716" cy="2211070"/>
            </a:xfrm>
            <a:custGeom>
              <a:avLst/>
              <a:gdLst/>
              <a:ahLst/>
              <a:cxnLst/>
              <a:rect r="r" b="b" t="t" l="l"/>
              <a:pathLst>
                <a:path h="2211070" w="8141716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7982966" y="0"/>
                  </a:lnTo>
                  <a:cubicBezTo>
                    <a:pt x="8070723" y="0"/>
                    <a:pt x="8141716" y="71120"/>
                    <a:pt x="8141716" y="158750"/>
                  </a:cubicBezTo>
                  <a:lnTo>
                    <a:pt x="8141716" y="2052320"/>
                  </a:lnTo>
                  <a:cubicBezTo>
                    <a:pt x="8141716" y="2140077"/>
                    <a:pt x="8070597" y="2211070"/>
                    <a:pt x="7982966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F5E6F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482388" y="5484914"/>
            <a:ext cx="354359" cy="283521"/>
            <a:chOff x="0" y="0"/>
            <a:chExt cx="472478" cy="37802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71" r="-8" b="-65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120267" y="5313912"/>
            <a:ext cx="490135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Gender-based marketing strategies could optimize revenue streams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1835496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High-Value Discount Users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396597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Customers using discounts while spending above average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45476" y="4829023"/>
            <a:ext cx="9455048" cy="1662265"/>
            <a:chOff x="0" y="0"/>
            <a:chExt cx="12606731" cy="221635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BED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143284" y="510778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Smart Shoppers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3284" y="5644601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 spenders who maximize value with discounts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845476" y="6765284"/>
            <a:ext cx="9455048" cy="1662265"/>
            <a:chOff x="0" y="0"/>
            <a:chExt cx="12606731" cy="22163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BED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143284" y="7044033"/>
            <a:ext cx="400020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Strategic Opportunity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3284" y="7580862"/>
            <a:ext cx="885944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Target premium customers with exclusive offers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742923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Shipping Preferences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 Shipping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$65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397" y="423312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Standard Shipping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70397" y="4921453"/>
            <a:ext cx="4376890" cy="1829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$58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397" y="6938962"/>
            <a:ext cx="4376890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Average purchase amount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7966624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Express shipping customers spend 12% more per transaction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515961"/>
            <a:ext cx="739913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Subscription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47555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68%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4916" y="3068393"/>
            <a:ext cx="4252912" cy="4252912"/>
            <a:chOff x="0" y="0"/>
            <a:chExt cx="5670550" cy="5670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19275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Higher Spend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Subscribers vs non-subscribers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0182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45%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17544" y="3068393"/>
            <a:ext cx="4252912" cy="4252912"/>
            <a:chOff x="0" y="0"/>
            <a:chExt cx="5670550" cy="567055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371902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Revenue Share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4866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From subscription customers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52809" y="4945266"/>
            <a:ext cx="3487341" cy="6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5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78%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70171" y="3068393"/>
            <a:ext cx="4252912" cy="4252912"/>
            <a:chOff x="0" y="0"/>
            <a:chExt cx="5670550" cy="567055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670550" cy="5670550"/>
            </a:xfrm>
            <a:custGeom>
              <a:avLst/>
              <a:gdLst/>
              <a:ahLst/>
              <a:cxnLst/>
              <a:rect r="r" b="b" t="t" l="l"/>
              <a:pathLst>
                <a:path h="5670550" w="5670550">
                  <a:moveTo>
                    <a:pt x="0" y="0"/>
                  </a:moveTo>
                  <a:lnTo>
                    <a:pt x="5670550" y="0"/>
                  </a:lnTo>
                  <a:lnTo>
                    <a:pt x="5670550" y="5670550"/>
                  </a:lnTo>
                  <a:lnTo>
                    <a:pt x="0" y="567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924530" y="7656614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Loyalty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7493" y="8193434"/>
            <a:ext cx="5198269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Repeat purchase frequency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480690"/>
            <a:ext cx="8850516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6B4E7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Customer Segmentation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22932" y="2962275"/>
            <a:ext cx="2690070" cy="1633690"/>
            <a:chOff x="0" y="0"/>
            <a:chExt cx="3586759" cy="217825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586734" cy="2178304"/>
            </a:xfrm>
            <a:custGeom>
              <a:avLst/>
              <a:gdLst/>
              <a:ahLst/>
              <a:cxnLst/>
              <a:rect r="r" b="b" t="t" l="l"/>
              <a:pathLst>
                <a:path h="2178304" w="3586734">
                  <a:moveTo>
                    <a:pt x="0" y="0"/>
                  </a:moveTo>
                  <a:lnTo>
                    <a:pt x="3586734" y="0"/>
                  </a:lnTo>
                  <a:lnTo>
                    <a:pt x="3586734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6" r="0" b="-21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868618" y="3608489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96523" y="322674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Loyal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96523" y="3763566"/>
            <a:ext cx="360000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15% - High value customers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83848" y="4612329"/>
            <a:ext cx="10741076" cy="19050"/>
            <a:chOff x="0" y="0"/>
            <a:chExt cx="14321434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21410" cy="25400"/>
            </a:xfrm>
            <a:custGeom>
              <a:avLst/>
              <a:gdLst/>
              <a:ahLst/>
              <a:cxnLst/>
              <a:rect r="r" b="b" t="t" l="l"/>
              <a:pathLst>
                <a:path h="25400" w="1432141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308710" y="0"/>
                  </a:lnTo>
                  <a:cubicBezTo>
                    <a:pt x="14315695" y="0"/>
                    <a:pt x="14321410" y="5715"/>
                    <a:pt x="14321410" y="12700"/>
                  </a:cubicBezTo>
                  <a:cubicBezTo>
                    <a:pt x="14321410" y="19685"/>
                    <a:pt x="14315695" y="25400"/>
                    <a:pt x="14308710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9BED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77973" y="4666802"/>
            <a:ext cx="5380139" cy="1633690"/>
            <a:chOff x="0" y="0"/>
            <a:chExt cx="7173519" cy="217825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173468" cy="2178304"/>
            </a:xfrm>
            <a:custGeom>
              <a:avLst/>
              <a:gdLst/>
              <a:ahLst/>
              <a:cxnLst/>
              <a:rect r="r" b="b" t="t" l="l"/>
              <a:pathLst>
                <a:path h="2178304" w="7173468">
                  <a:moveTo>
                    <a:pt x="0" y="0"/>
                  </a:moveTo>
                  <a:lnTo>
                    <a:pt x="7173468" y="0"/>
                  </a:lnTo>
                  <a:lnTo>
                    <a:pt x="7173468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27" r="0" b="-12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68618" y="5110610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41634" y="4931273"/>
            <a:ext cx="31411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41634" y="5468093"/>
            <a:ext cx="314116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35% - Regular shoppers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828959" y="6316866"/>
            <a:ext cx="9395965" cy="19050"/>
            <a:chOff x="0" y="0"/>
            <a:chExt cx="12527953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27915" cy="25400"/>
            </a:xfrm>
            <a:custGeom>
              <a:avLst/>
              <a:gdLst/>
              <a:ahLst/>
              <a:cxnLst/>
              <a:rect r="r" b="b" t="t" l="l"/>
              <a:pathLst>
                <a:path h="25400" w="12527915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515215" y="0"/>
                  </a:lnTo>
                  <a:cubicBezTo>
                    <a:pt x="12522200" y="0"/>
                    <a:pt x="12527915" y="5715"/>
                    <a:pt x="12527915" y="12700"/>
                  </a:cubicBezTo>
                  <a:cubicBezTo>
                    <a:pt x="12527915" y="19685"/>
                    <a:pt x="12522200" y="25400"/>
                    <a:pt x="1251521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9BED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32872" y="6371330"/>
            <a:ext cx="8070209" cy="1633690"/>
            <a:chOff x="0" y="0"/>
            <a:chExt cx="10760278" cy="2178253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760329" cy="2178304"/>
            </a:xfrm>
            <a:custGeom>
              <a:avLst/>
              <a:gdLst/>
              <a:ahLst/>
              <a:cxnLst/>
              <a:rect r="r" b="b" t="t" l="l"/>
              <a:pathLst>
                <a:path h="2178304" w="10760329">
                  <a:moveTo>
                    <a:pt x="0" y="0"/>
                  </a:moveTo>
                  <a:lnTo>
                    <a:pt x="10760329" y="0"/>
                  </a:lnTo>
                  <a:lnTo>
                    <a:pt x="10760329" y="2178304"/>
                  </a:lnTo>
                  <a:lnTo>
                    <a:pt x="0" y="2178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" r="0" b="-15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868466" y="6815137"/>
            <a:ext cx="398707" cy="62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86592" y="6635801"/>
            <a:ext cx="317837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New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86592" y="7172620"/>
            <a:ext cx="3178378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50% - First-time buyers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8228705"/>
            <a:ext cx="16303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Focus on converting New to Returning, Returning to Loyal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DAHS4g7aQ2c</dc:identifier>
  <dcterms:modified xsi:type="dcterms:W3CDTF">2011-08-01T06:04:30Z</dcterms:modified>
  <cp:revision>1</cp:revision>
  <dc:title>Customer-Behavior-Dashboard-Final-Fixed.pptx</dc:title>
</cp:coreProperties>
</file>